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640080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1CAD6"/>
                </a:solidFill>
                <a:latin typeface="Aptos"/>
              </a:defRPr>
            </a:pPr>
            <a:r>
              <a:t>QISKIT FALL FEST 2026  /  TRACK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858000" cy="1371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Portfolio selection</a:t>
            </a:r>
          </a:p>
          <a:p>
            <a:pPr>
              <a:spcAft>
                <a:spcPts val="4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with QAOA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3017520"/>
            <a:ext cx="1143000" cy="64008"/>
          </a:xfrm>
          <a:prstGeom prst="rect">
            <a:avLst/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6217920" cy="7315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C9D8E8"/>
                </a:solidFill>
                <a:latin typeface="Aptos"/>
              </a:defRPr>
            </a:pPr>
            <a:r>
              <a:t>Constraint-preserving search, warm starts,</a:t>
            </a:r>
          </a:p>
          <a:p>
            <a:pPr>
              <a:spcAft>
                <a:spcPts val="400"/>
              </a:spcAft>
              <a:defRPr sz="1900" b="0">
                <a:solidFill>
                  <a:srgbClr val="C9D8E8"/>
                </a:solidFill>
                <a:latin typeface="Aptos"/>
              </a:defRPr>
            </a:pPr>
            <a:r>
              <a:t>and the cost of hardware realism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54864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6AE48"/>
                </a:solidFill>
                <a:latin typeface="Aptos"/>
              </a:defRPr>
            </a:pPr>
            <a:r>
              <a:t>TEAM AXIOM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37760"/>
            <a:ext cx="64008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Abhiram Arun N S V  ·  Sree Sruthi Alur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50992"/>
            <a:ext cx="6583680" cy="530352"/>
          </a:xfrm>
          <a:prstGeom prst="roundRect">
            <a:avLst>
              <a:gd name="adj" fmla="val 10000"/>
            </a:avLst>
          </a:prstGeom>
          <a:solidFill>
            <a:srgbClr val="132C49"/>
          </a:solidFill>
          <a:ln>
            <a:solidFill>
              <a:srgbClr val="3A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5797296"/>
            <a:ext cx="621792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Main result: classical baselines reach the exact optimum.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0" y="1188720"/>
            <a:ext cx="1371600" cy="54864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01200" y="1143000"/>
            <a:ext cx="1371600" cy="59436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0" y="1188720"/>
            <a:ext cx="365760" cy="164592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595360" y="1737360"/>
            <a:ext cx="1005840" cy="109728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0" y="1737360"/>
            <a:ext cx="548640" cy="128016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149840" y="1143000"/>
            <a:ext cx="822960" cy="187452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5360" y="2834640"/>
            <a:ext cx="1554480" cy="18288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95360" y="2834640"/>
            <a:ext cx="274320" cy="182880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49840" y="3017520"/>
            <a:ext cx="822960" cy="118872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869680" y="3017520"/>
            <a:ext cx="1280160" cy="164592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241280" y="4206240"/>
            <a:ext cx="731520" cy="100584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69680" y="4663440"/>
            <a:ext cx="1371600" cy="548640"/>
          </a:xfrm>
          <a:prstGeom prst="line">
            <a:avLst/>
          </a:prstGeom>
          <a:ln w="12700">
            <a:solidFill>
              <a:srgbClr val="3658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129016" y="1088136"/>
            <a:ext cx="201168" cy="201168"/>
          </a:xfrm>
          <a:prstGeom prst="ellipse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500616" y="1636775"/>
            <a:ext cx="201168" cy="201168"/>
          </a:xfrm>
          <a:prstGeom prst="ellipse">
            <a:avLst/>
          </a:prstGeom>
          <a:solidFill>
            <a:srgbClr val="41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872216" y="1042415"/>
            <a:ext cx="201168" cy="201168"/>
          </a:xfrm>
          <a:prstGeom prst="ellipse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94776" y="2734056"/>
            <a:ext cx="201168" cy="201168"/>
          </a:xfrm>
          <a:prstGeom prst="ellipse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049256" y="2916936"/>
            <a:ext cx="201168" cy="201168"/>
          </a:xfrm>
          <a:prstGeom prst="ellipse">
            <a:avLst/>
          </a:prstGeom>
          <a:solidFill>
            <a:srgbClr val="41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872216" y="4105655"/>
            <a:ext cx="201168" cy="201168"/>
          </a:xfrm>
          <a:prstGeom prst="ellipse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769096" y="4562855"/>
            <a:ext cx="201168" cy="201168"/>
          </a:xfrm>
          <a:prstGeom prst="ellipse">
            <a:avLst/>
          </a:prstGeom>
          <a:solidFill>
            <a:srgbClr val="41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140696" y="5111496"/>
            <a:ext cx="201168" cy="201168"/>
          </a:xfrm>
          <a:prstGeom prst="ellipse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0" y="6263640"/>
            <a:ext cx="384048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A9BED6"/>
                </a:solidFill>
                <a:latin typeface="Aptos"/>
              </a:defRPr>
            </a:pPr>
            <a:r>
              <a:t>SIMULATOR STUDY  •  NO QPU JOBS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07EEB"/>
                </a:solidFill>
                <a:latin typeface="Aptos"/>
              </a:defRPr>
            </a:pPr>
            <a:r>
              <a:t>01 / 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0515600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C1D34"/>
                </a:solidFill>
                <a:latin typeface="Aptos"/>
              </a:defRPr>
            </a:pPr>
            <a:r>
              <a:t>A portfolio is a binary decision under a hard budget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320040"/>
            <a:ext cx="530352" cy="384048"/>
          </a:xfrm>
          <a:prstGeom prst="roundRect">
            <a:avLst>
              <a:gd name="adj" fmla="val 10000"/>
            </a:avLst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30352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47104"/>
            <a:ext cx="73152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TEAM AXIOM  •  QISKIT FALL FEST 2026  •  TRACK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6858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2/8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36192"/>
            <a:ext cx="64008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C1D34"/>
                </a:solidFill>
                <a:latin typeface="Aptos"/>
              </a:defRPr>
            </a:pPr>
            <a:r>
              <a:t>Choose exactly K assets from n candidates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47672"/>
            <a:ext cx="676656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307EEB"/>
                </a:solidFill>
                <a:latin typeface="Aptos"/>
              </a:defRPr>
            </a:pPr>
            <a:r>
              <a:t>C(x) = q xᵀΣx − μᵀx + λ(∑ᵢxᵢ − K)²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6492240" cy="6583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B2839"/>
                </a:solidFill>
                <a:latin typeface="Aptos"/>
              </a:defRPr>
            </a:pPr>
            <a:r>
              <a:t>xᵢ ∈ {0,1}; xᵢ = 1 means asset i is selected.</a:t>
            </a:r>
          </a:p>
          <a:p>
            <a:pPr>
              <a:spcAft>
                <a:spcPts val="400"/>
              </a:spcAft>
              <a:defRPr sz="1500" b="0">
                <a:solidFill>
                  <a:srgbClr val="1B2839"/>
                </a:solidFill>
                <a:latin typeface="Aptos"/>
              </a:defRPr>
            </a:pPr>
            <a:r>
              <a:t>Σ captures pairwise risk; μ represents expected return.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554480"/>
            <a:ext cx="3840480" cy="11430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1554480"/>
            <a:ext cx="64008" cy="1143000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19" y="1691639"/>
            <a:ext cx="349300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INSTANCE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2057400"/>
            <a:ext cx="3493008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n = 12 assets  •  K = 6</a:t>
            </a:r>
          </a:p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q = 0.5  •  data seed =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907792"/>
            <a:ext cx="3840480" cy="11430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2907792"/>
            <a:ext cx="64008" cy="1143000"/>
          </a:xfrm>
          <a:prstGeom prst="rect">
            <a:avLst/>
          </a:prstGeom>
          <a:solidFill>
            <a:srgbClr val="41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19" y="3044952"/>
            <a:ext cx="349300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SEARCH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3410712"/>
            <a:ext cx="3493008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C(12,6) = 924 feasible portfolios</a:t>
            </a:r>
          </a:p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Exact enumeration is the reference.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069080"/>
            <a:ext cx="6446520" cy="1143000"/>
          </a:xfrm>
          <a:prstGeom prst="roundRect">
            <a:avLst>
              <a:gd name="adj" fmla="val 10000"/>
            </a:avLst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251960"/>
            <a:ext cx="594360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1CAD6"/>
                </a:solidFill>
                <a:latin typeface="Aptos"/>
              </a:defRPr>
            </a:pPr>
            <a:r>
              <a:t>EXACT INTERMEDIATE OPTIMUM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526280"/>
            <a:ext cx="59436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C* = −1.066392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956048"/>
            <a:ext cx="594360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C9D8E8"/>
                </a:solidFill>
                <a:latin typeface="Aptos"/>
              </a:defRPr>
            </a:pPr>
            <a:r>
              <a:t>Assets [1, 5, 6, 8, 10, 11]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577840"/>
            <a:ext cx="1078992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B6C80"/>
                </a:solidFill>
                <a:latin typeface="Aptos"/>
              </a:defRPr>
            </a:pPr>
            <a:r>
              <a:t>Encoding: xᵢ = (I − Zᵢ)/2. Penalties discourage violations; a constraint-preserving mixer avoids them by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07EEB"/>
                </a:solidFill>
                <a:latin typeface="Aptos"/>
              </a:defRPr>
            </a:pPr>
            <a:r>
              <a:t>02 /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0515600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C1D34"/>
                </a:solidFill>
                <a:latin typeface="Aptos"/>
              </a:defRPr>
            </a:pPr>
            <a:r>
              <a:t>Three QAOA designs test different ways to handle feasibility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320040"/>
            <a:ext cx="530352" cy="384048"/>
          </a:xfrm>
          <a:prstGeom prst="roundRect">
            <a:avLst>
              <a:gd name="adj" fmla="val 10000"/>
            </a:avLst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30352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47104"/>
            <a:ext cx="73152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TEAM AXIOM  •  QISKIT FALL FEST 2026  •  TRACK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6858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3/8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508760"/>
            <a:ext cx="3566160" cy="324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508760"/>
            <a:ext cx="64008" cy="3246120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645919"/>
            <a:ext cx="321868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A / XY-QAOA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011680"/>
            <a:ext cx="3218688" cy="2651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INITIAL STATE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Uniform superposition over weight-6 bitstrings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MIXER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Ring XY interactions preserve Hamming weight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TRADE-OFF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Feasibility = 1 by construction; costly circuit.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508760"/>
            <a:ext cx="3566160" cy="324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5968" y="1508760"/>
            <a:ext cx="64008" cy="3246120"/>
          </a:xfrm>
          <a:prstGeom prst="rect">
            <a:avLst/>
          </a:prstGeom>
          <a:solidFill>
            <a:srgbClr val="41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1645919"/>
            <a:ext cx="321868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B / Warm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011680"/>
            <a:ext cx="3218688" cy="2651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INITIAL STATE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Product state from continuous relaxation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MIXER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Standard X mixer + penalty λ = 1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TRADE-OFF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Best observed optimal-solution probability.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508760"/>
            <a:ext cx="3566160" cy="324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1508760"/>
            <a:ext cx="64008" cy="3246120"/>
          </a:xfrm>
          <a:prstGeom prst="rect">
            <a:avLst/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1" y="1645919"/>
            <a:ext cx="321868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C / Penalized QAOA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1" y="2011680"/>
            <a:ext cx="3218688" cy="2651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INITIAL STATE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|+⟩ⁿ, no problem-specific bias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MIXER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Standard X mixer + penalty λ = 1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TRADE-OFF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Simple baseline; feasibility not guaranteed.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074920"/>
            <a:ext cx="11000232" cy="658368"/>
          </a:xfrm>
          <a:prstGeom prst="roundRect">
            <a:avLst>
              <a:gd name="adj" fmla="val 10000"/>
            </a:avLst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230368"/>
            <a:ext cx="1051560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1CAD6"/>
                </a:solidFill>
                <a:latin typeface="Aptos"/>
              </a:defRPr>
            </a:pPr>
            <a:r>
              <a:t>COMMON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04688"/>
            <a:ext cx="1051560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Depth p = 1–3  •  COBYLA multistart  •  4,096 exact-statevector samples  •  simulator-only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016752"/>
            <a:ext cx="1088136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B6C80"/>
                </a:solidFill>
                <a:latin typeface="Aptos"/>
              </a:defRPr>
            </a:pPr>
            <a:r>
              <a:t>Compared with exhaustive enumeration and classical greedy / simulated annealing.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07EEB"/>
                </a:solidFill>
                <a:latin typeface="Aptos"/>
              </a:defRPr>
            </a:pPr>
            <a:r>
              <a:t>03 / MANDATORY BEGINNER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0515600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C1D34"/>
                </a:solidFill>
                <a:latin typeface="Aptos"/>
              </a:defRPr>
            </a:pPr>
            <a:r>
              <a:t>Penalty strength matters: too little penalty rewards invalid portfolios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320040"/>
            <a:ext cx="530352" cy="384048"/>
          </a:xfrm>
          <a:prstGeom prst="roundRect">
            <a:avLst>
              <a:gd name="adj" fmla="val 10000"/>
            </a:avLst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30352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47104"/>
            <a:ext cx="73152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TEAM AXIOM  •  QISKIT FALL FEST 2026  •  TRACK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6858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4/8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08760"/>
            <a:ext cx="475488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C1D34"/>
                </a:solidFill>
                <a:latin typeface="Aptos"/>
              </a:defRPr>
            </a:pPr>
            <a:r>
              <a:t>Beginner instance: n = 6, K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4663440" cy="5943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Only 20 portfolios satisfy the constraint.</a:t>
            </a:r>
          </a:p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All 64 bitstrings can be enumerated exactly.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4709160" cy="1115568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64008" cy="1115568"/>
          </a:xfrm>
          <a:prstGeom prst="rect">
            <a:avLst/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017520"/>
            <a:ext cx="436168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EXACT PENALTY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83280"/>
            <a:ext cx="4361688" cy="521207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λ* = 0.109661226</a:t>
            </a:r>
          </a:p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Below λ*, an infeasible state can win globally.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51960"/>
            <a:ext cx="4709160" cy="1024128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4251960"/>
            <a:ext cx="64008" cy="1024128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4389120"/>
            <a:ext cx="436168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REFERENCE OPTIMUM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754880"/>
            <a:ext cx="4361688" cy="4297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C* = −0.503014690  •  assets [1, 2, 5]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645920"/>
            <a:ext cx="5577840" cy="379476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1847088"/>
            <a:ext cx="502920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C1D34"/>
                </a:solidFill>
                <a:latin typeface="Aptos"/>
              </a:defRPr>
            </a:pPr>
            <a:r>
              <a:t>Observed feasible-sample fraction vs 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46520" y="4617720"/>
            <a:ext cx="438912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35040" y="4526280"/>
            <a:ext cx="32004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B6C80"/>
                </a:solidFill>
                <a:latin typeface="Aptos"/>
              </a:defRPr>
            </a:pPr>
            <a:r>
              <a:t>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46520" y="3611880"/>
            <a:ext cx="438912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35040" y="3520440"/>
            <a:ext cx="32004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B6C80"/>
                </a:solidFill>
                <a:latin typeface="Aptos"/>
              </a:defRPr>
            </a:pPr>
            <a:r>
              <a:t>0.5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46520" y="2606040"/>
            <a:ext cx="438912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35040" y="2514600"/>
            <a:ext cx="32004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B6C80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46520" y="2606040"/>
            <a:ext cx="0" cy="2011680"/>
          </a:xfrm>
          <a:prstGeom prst="line">
            <a:avLst/>
          </a:prstGeom>
          <a:ln w="12700">
            <a:solidFill>
              <a:srgbClr val="5B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46520" y="2606040"/>
            <a:ext cx="4389120" cy="0"/>
          </a:xfrm>
          <a:prstGeom prst="line">
            <a:avLst/>
          </a:prstGeom>
          <a:ln w="12700">
            <a:solidFill>
              <a:srgbClr val="5B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46520" y="2777032"/>
            <a:ext cx="731520" cy="553212"/>
          </a:xfrm>
          <a:prstGeom prst="line">
            <a:avLst/>
          </a:prstGeom>
          <a:ln w="25400">
            <a:solidFill>
              <a:srgbClr val="307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78040" y="3330244"/>
            <a:ext cx="731520" cy="808696"/>
          </a:xfrm>
          <a:prstGeom prst="line">
            <a:avLst/>
          </a:prstGeom>
          <a:ln w="25400">
            <a:solidFill>
              <a:srgbClr val="307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09560" y="4138940"/>
            <a:ext cx="731520" cy="311810"/>
          </a:xfrm>
          <a:prstGeom prst="line">
            <a:avLst/>
          </a:prstGeom>
          <a:ln w="25400">
            <a:solidFill>
              <a:srgbClr val="307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641080" y="4450750"/>
            <a:ext cx="731520" cy="4023"/>
          </a:xfrm>
          <a:prstGeom prst="line">
            <a:avLst/>
          </a:prstGeom>
          <a:ln w="25400">
            <a:solidFill>
              <a:srgbClr val="307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372600" y="4454773"/>
            <a:ext cx="731520" cy="124725"/>
          </a:xfrm>
          <a:prstGeom prst="line">
            <a:avLst/>
          </a:prstGeom>
          <a:ln w="25400">
            <a:solidFill>
              <a:srgbClr val="307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104120" y="4513112"/>
            <a:ext cx="731520" cy="66386"/>
          </a:xfrm>
          <a:prstGeom prst="line">
            <a:avLst/>
          </a:prstGeom>
          <a:ln w="25400">
            <a:solidFill>
              <a:srgbClr val="307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396228" y="2726740"/>
            <a:ext cx="100584" cy="100584"/>
          </a:xfrm>
          <a:prstGeom prst="ellipse">
            <a:avLst/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2350008"/>
            <a:ext cx="457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5B6C80"/>
                </a:solidFill>
                <a:latin typeface="Aptos"/>
              </a:defRPr>
            </a:pPr>
            <a:r>
              <a:t>0.05</a:t>
            </a:r>
          </a:p>
        </p:txBody>
      </p:sp>
      <p:sp>
        <p:nvSpPr>
          <p:cNvPr id="39" name="Oval 38"/>
          <p:cNvSpPr/>
          <p:nvPr/>
        </p:nvSpPr>
        <p:spPr>
          <a:xfrm>
            <a:off x="7127748" y="3279952"/>
            <a:ext cx="100584" cy="100584"/>
          </a:xfrm>
          <a:prstGeom prst="ellipse">
            <a:avLst/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49440" y="2350008"/>
            <a:ext cx="457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5B6C80"/>
                </a:solidFill>
                <a:latin typeface="Aptos"/>
              </a:defRPr>
            </a:pPr>
            <a:r>
              <a:t>0.1</a:t>
            </a:r>
          </a:p>
        </p:txBody>
      </p:sp>
      <p:sp>
        <p:nvSpPr>
          <p:cNvPr id="41" name="Oval 40"/>
          <p:cNvSpPr/>
          <p:nvPr/>
        </p:nvSpPr>
        <p:spPr>
          <a:xfrm>
            <a:off x="7859268" y="4088648"/>
            <a:ext cx="100584" cy="100584"/>
          </a:xfrm>
          <a:prstGeom prst="ellipse">
            <a:avLst/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80960" y="2350008"/>
            <a:ext cx="457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5B6C80"/>
                </a:solidFill>
                <a:latin typeface="Aptos"/>
              </a:defRPr>
            </a:pPr>
            <a:r>
              <a:t>0.25</a:t>
            </a:r>
          </a:p>
        </p:txBody>
      </p:sp>
      <p:sp>
        <p:nvSpPr>
          <p:cNvPr id="43" name="Oval 42"/>
          <p:cNvSpPr/>
          <p:nvPr/>
        </p:nvSpPr>
        <p:spPr>
          <a:xfrm>
            <a:off x="8590788" y="4400458"/>
            <a:ext cx="100584" cy="100584"/>
          </a:xfrm>
          <a:prstGeom prst="ellipse">
            <a:avLst/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0" y="2350008"/>
            <a:ext cx="457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5B6C80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45" name="Oval 44"/>
          <p:cNvSpPr/>
          <p:nvPr/>
        </p:nvSpPr>
        <p:spPr>
          <a:xfrm>
            <a:off x="9322308" y="4404481"/>
            <a:ext cx="100584" cy="100584"/>
          </a:xfrm>
          <a:prstGeom prst="ellipse">
            <a:avLst/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0" y="2350008"/>
            <a:ext cx="457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5B6C8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7" name="Oval 46"/>
          <p:cNvSpPr/>
          <p:nvPr/>
        </p:nvSpPr>
        <p:spPr>
          <a:xfrm>
            <a:off x="10053828" y="4529206"/>
            <a:ext cx="100584" cy="100584"/>
          </a:xfrm>
          <a:prstGeom prst="ellipse">
            <a:avLst/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75520" y="2350008"/>
            <a:ext cx="457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5B6C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9" name="Oval 48"/>
          <p:cNvSpPr/>
          <p:nvPr/>
        </p:nvSpPr>
        <p:spPr>
          <a:xfrm>
            <a:off x="10785348" y="4462820"/>
            <a:ext cx="100584" cy="100584"/>
          </a:xfrm>
          <a:prstGeom prst="ellipse">
            <a:avLst/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607040" y="2350008"/>
            <a:ext cx="457200" cy="1645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5B6C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5596128"/>
            <a:ext cx="530352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B916F"/>
                </a:solidFill>
                <a:latin typeface="Aptos"/>
              </a:defRPr>
            </a:pPr>
            <a:r>
              <a:t>Best sampled feasible cost matched the exact optimum at every tested depth.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07EEB"/>
                </a:solidFill>
                <a:latin typeface="Aptos"/>
              </a:defRPr>
            </a:pPr>
            <a:r>
              <a:t>04 / INTERMEDIATE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0515600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C1D34"/>
                </a:solidFill>
                <a:latin typeface="Aptos"/>
              </a:defRPr>
            </a:pPr>
            <a:r>
              <a:t>Warm start improves optimal-hit probability, not best achievable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320040"/>
            <a:ext cx="530352" cy="384048"/>
          </a:xfrm>
          <a:prstGeom prst="roundRect">
            <a:avLst>
              <a:gd name="adj" fmla="val 10000"/>
            </a:avLst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30352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47104"/>
            <a:ext cx="73152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TEAM AXIOM  •  QISKIT FALL FEST 2026  •  TRACK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6858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5/8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2286000" cy="59436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664208"/>
            <a:ext cx="219456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1572768"/>
            <a:ext cx="1828800" cy="59436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0087" y="1664208"/>
            <a:ext cx="173736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Feasibility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(p=3)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73168" y="1572768"/>
            <a:ext cx="1828800" cy="59436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18888" y="1664208"/>
            <a:ext cx="173736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P(opt)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(p=3)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1968" y="1572768"/>
            <a:ext cx="2057400" cy="59436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47688" y="1664208"/>
            <a:ext cx="196596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Best feasible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59367" y="1572768"/>
            <a:ext cx="2377440" cy="59436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05088" y="1664208"/>
            <a:ext cx="228600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167128"/>
            <a:ext cx="2286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2350008"/>
            <a:ext cx="21945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A · XY mixer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44368" y="2167128"/>
            <a:ext cx="18288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90087" y="2350008"/>
            <a:ext cx="17373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73168" y="2167128"/>
            <a:ext cx="18288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18888" y="2350008"/>
            <a:ext cx="17373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0.0066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1968" y="2167128"/>
            <a:ext cx="20574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47688" y="2350008"/>
            <a:ext cx="19659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−1.066392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59367" y="2167128"/>
            <a:ext cx="23774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05088" y="2350008"/>
            <a:ext cx="22860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2862072"/>
            <a:ext cx="2286000" cy="694944"/>
          </a:xfrm>
          <a:prstGeom prst="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" y="3044952"/>
            <a:ext cx="21945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B · Warm start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44368" y="2862072"/>
            <a:ext cx="1828800" cy="694944"/>
          </a:xfrm>
          <a:prstGeom prst="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0087" y="3044952"/>
            <a:ext cx="17373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69.1%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73168" y="2862072"/>
            <a:ext cx="1828800" cy="694944"/>
          </a:xfrm>
          <a:prstGeom prst="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18888" y="3044952"/>
            <a:ext cx="17373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0.1609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01968" y="2862072"/>
            <a:ext cx="2057400" cy="694944"/>
          </a:xfrm>
          <a:prstGeom prst="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47688" y="3044952"/>
            <a:ext cx="19659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−1.066392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59367" y="2862072"/>
            <a:ext cx="2377440" cy="694944"/>
          </a:xfrm>
          <a:prstGeom prst="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05088" y="3044952"/>
            <a:ext cx="22860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Best P(opt)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557016"/>
            <a:ext cx="22860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" y="3739896"/>
            <a:ext cx="21945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C · Penalty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44368" y="3557016"/>
            <a:ext cx="18288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90087" y="3739896"/>
            <a:ext cx="17373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60.6%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73168" y="3557016"/>
            <a:ext cx="18288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18888" y="3739896"/>
            <a:ext cx="17373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0.0007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01968" y="3557016"/>
            <a:ext cx="20574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47688" y="3739896"/>
            <a:ext cx="19659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−1.066392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59367" y="3557016"/>
            <a:ext cx="23774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05088" y="3739896"/>
            <a:ext cx="22860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251960"/>
            <a:ext cx="2286000" cy="694944"/>
          </a:xfrm>
          <a:prstGeom prst="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04088" y="4434840"/>
            <a:ext cx="21945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Greedy / SA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44368" y="4251960"/>
            <a:ext cx="1828800" cy="694944"/>
          </a:xfrm>
          <a:prstGeom prst="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990087" y="4434840"/>
            <a:ext cx="17373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73168" y="4251960"/>
            <a:ext cx="1828800" cy="694944"/>
          </a:xfrm>
          <a:prstGeom prst="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18888" y="4434840"/>
            <a:ext cx="17373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Exact optimum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01968" y="4251960"/>
            <a:ext cx="2057400" cy="694944"/>
          </a:xfrm>
          <a:prstGeom prst="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47688" y="4434840"/>
            <a:ext cx="19659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B2839"/>
                </a:solidFill>
                <a:latin typeface="Aptos"/>
              </a:defRPr>
            </a:pPr>
            <a:r>
              <a:t>−1.066392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59367" y="4251960"/>
            <a:ext cx="2377440" cy="694944"/>
          </a:xfrm>
          <a:prstGeom prst="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705088" y="4434840"/>
            <a:ext cx="22860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B916F"/>
                </a:solidFill>
                <a:latin typeface="Aptos"/>
              </a:defRPr>
            </a:pPr>
            <a:r>
              <a:t>Classical wins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5285232"/>
            <a:ext cx="9784080" cy="594360"/>
          </a:xfrm>
          <a:prstGeom prst="roundRect">
            <a:avLst>
              <a:gd name="adj" fmla="val 10000"/>
            </a:avLst>
          </a:prstGeom>
          <a:solidFill>
            <a:srgbClr val="DF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6112" y="5440680"/>
            <a:ext cx="923544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C1D34"/>
                </a:solidFill>
                <a:latin typeface="Aptos"/>
              </a:defRPr>
            </a:pPr>
            <a:r>
              <a:t>Greedy and feasible-swap simulated annealing found the exact optimum in under 2 seconds.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5998464"/>
            <a:ext cx="1069848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B6C80"/>
                </a:solidFill>
                <a:latin typeface="Aptos"/>
              </a:defRPr>
            </a:pPr>
            <a:r>
              <a:t>Relaxation + rounding also recovered the optimum; continuous relaxation value: −1.120144.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07EEB"/>
                </a:solidFill>
                <a:latin typeface="Aptos"/>
              </a:defRPr>
            </a:pPr>
            <a:r>
              <a:t>05 / HARDWARE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0515600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C1D34"/>
                </a:solidFill>
                <a:latin typeface="Aptos"/>
              </a:defRPr>
            </a:pPr>
            <a:r>
              <a:t>Routing and state preparation dominate the circuit budget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320040"/>
            <a:ext cx="530352" cy="384048"/>
          </a:xfrm>
          <a:prstGeom prst="roundRect">
            <a:avLst>
              <a:gd name="adj" fmla="val 10000"/>
            </a:avLst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30352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47104"/>
            <a:ext cx="73152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TEAM AXIOM  •  QISKIT FALL FEST 2026  •  TRACK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6858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6/8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508760"/>
            <a:ext cx="64008" cy="1234440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1645919"/>
            <a:ext cx="289864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011680"/>
            <a:ext cx="2898648" cy="6400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FakeBrisbane model</a:t>
            </a:r>
          </a:p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127 qubits · heavy-hex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50876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0" y="1508760"/>
            <a:ext cx="64008" cy="1234440"/>
          </a:xfrm>
          <a:prstGeom prst="rect">
            <a:avLst/>
          </a:prstGeom>
          <a:solidFill>
            <a:srgbClr val="41C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1645919"/>
            <a:ext cx="289864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LOGICAL CIRCUIT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011680"/>
            <a:ext cx="2898648" cy="6400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Depth 8,782</a:t>
            </a:r>
          </a:p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4,623 two-qubit gates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508760"/>
            <a:ext cx="3657600" cy="123444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89520" y="1508760"/>
            <a:ext cx="64008" cy="1234440"/>
          </a:xfrm>
          <a:prstGeom prst="rect">
            <a:avLst/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1645919"/>
            <a:ext cx="331012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TRANSPILED SUBGRAPH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011680"/>
            <a:ext cx="3310128" cy="6400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Depth 36,008</a:t>
            </a:r>
          </a:p>
          <a:p>
            <a:pPr>
              <a:spcAft>
                <a:spcPts val="400"/>
              </a:spcAft>
              <a:defRPr sz="1400" b="0">
                <a:solidFill>
                  <a:srgbClr val="1B2839"/>
                </a:solidFill>
                <a:latin typeface="Aptos"/>
              </a:defRPr>
            </a:pPr>
            <a:r>
              <a:t>10,554 ECR 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063240"/>
            <a:ext cx="493776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C1D34"/>
                </a:solidFill>
                <a:latin typeface="Aptos"/>
              </a:defRPr>
            </a:pPr>
            <a:r>
              <a:t>Circuit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547872"/>
            <a:ext cx="118872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Logical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3529584"/>
            <a:ext cx="3200400" cy="237744"/>
          </a:xfrm>
          <a:prstGeom prst="roundRect">
            <a:avLst>
              <a:gd name="adj" fmla="val 10000"/>
            </a:avLst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965960" y="3529584"/>
            <a:ext cx="780546" cy="237744"/>
          </a:xfrm>
          <a:prstGeom prst="roundRect">
            <a:avLst>
              <a:gd name="adj" fmla="val 10000"/>
            </a:avLst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0" y="3547872"/>
            <a:ext cx="91440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8,782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160520"/>
            <a:ext cx="118872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Transpiled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4142232"/>
            <a:ext cx="3200400" cy="237744"/>
          </a:xfrm>
          <a:prstGeom prst="roundRect">
            <a:avLst>
              <a:gd name="adj" fmla="val 10000"/>
            </a:avLst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965960" y="4142232"/>
            <a:ext cx="3200400" cy="237744"/>
          </a:xfrm>
          <a:prstGeom prst="roundRect">
            <a:avLst>
              <a:gd name="adj" fmla="val 10000"/>
            </a:avLst>
          </a:prstGeom>
          <a:solidFill>
            <a:srgbClr val="F6A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0" y="4160520"/>
            <a:ext cx="91440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36,008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063240"/>
            <a:ext cx="4617720" cy="196596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0" y="3063240"/>
            <a:ext cx="64008" cy="1965960"/>
          </a:xfrm>
          <a:prstGeom prst="rect">
            <a:avLst/>
          </a:prstGeom>
          <a:solidFill>
            <a:srgbClr val="C34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3200400"/>
            <a:ext cx="427024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WHERE THE COST COMES FROM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566160"/>
            <a:ext cx="4270248" cy="1371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Custom weight-K state preparation accounts for 92.7% of logical depth and 89.3% of two-qubit gates.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51.4% of logical two-qubit pairs are non-adjacent, increasing routing cost.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166360"/>
            <a:ext cx="5303520" cy="6400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B6C80"/>
                </a:solidFill>
                <a:latin typeface="Aptos"/>
              </a:defRPr>
            </a:pPr>
            <a:r>
              <a:t>Overhead: 4.10× depth and 2.28× two-qubit count.</a:t>
            </a:r>
          </a:p>
          <a:p>
            <a:pPr>
              <a:spcAft>
                <a:spcPts val="400"/>
              </a:spcAft>
              <a:defRPr sz="1200" b="0">
                <a:solidFill>
                  <a:srgbClr val="5B6C80"/>
                </a:solidFill>
                <a:latin typeface="Aptos"/>
              </a:defRPr>
            </a:pPr>
            <a:r>
              <a:t>Compiled estimates only; no real QPU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07EEB"/>
                </a:solidFill>
                <a:latin typeface="Aptos"/>
              </a:defRPr>
            </a:pPr>
            <a:r>
              <a:t>06 / 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0515600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C1D34"/>
                </a:solidFill>
                <a:latin typeface="Aptos"/>
              </a:defRPr>
            </a:pPr>
            <a:r>
              <a:t>The gate-based circuit differs from exact XY evolution before noise is added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320040"/>
            <a:ext cx="530352" cy="384048"/>
          </a:xfrm>
          <a:prstGeom prst="roundRect">
            <a:avLst>
              <a:gd name="adj" fmla="val 10000"/>
            </a:avLst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30352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47104"/>
            <a:ext cx="73152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TEAM AXIOM  •  QISKIT FALL FEST 2026  •  TRACK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685800" cy="1463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B6C80"/>
                </a:solidFill>
                <a:latin typeface="Aptos"/>
              </a:defRPr>
            </a:pPr>
            <a:r>
              <a:t>7/8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54480"/>
            <a:ext cx="5212080" cy="1874519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554480"/>
            <a:ext cx="64008" cy="1874519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1691639"/>
            <a:ext cx="486460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1 / IMPLEMENTATION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057400"/>
            <a:ext cx="4864608" cy="1280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Exact weighted-subspace evolution vs noiseless Trotterized circuit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TV = 0.5827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P(opt): 0.00664 exact → 0.00211 circuit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554480"/>
            <a:ext cx="5349240" cy="1874519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554480"/>
            <a:ext cx="64008" cy="1874519"/>
          </a:xfrm>
          <a:prstGeom prst="rect">
            <a:avLst/>
          </a:prstGeom>
          <a:solidFill>
            <a:srgbClr val="C34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691639"/>
            <a:ext cx="5001768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2 / NOISE DEGRADATION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057400"/>
            <a:ext cx="5001768" cy="12801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FakeBrisbane-derived noisy simulation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Feasibility: 20.7% (1,024 shots)</a:t>
            </a:r>
          </a:p>
          <a:p>
            <a:pPr>
              <a:spcAft>
                <a:spcPts val="400"/>
              </a:spcAft>
              <a:defRPr sz="1300" b="0">
                <a:solidFill>
                  <a:srgbClr val="1B2839"/>
                </a:solidFill>
                <a:latin typeface="Aptos"/>
              </a:defRPr>
            </a:pPr>
            <a:r>
              <a:t>No optimal bitstring observed in that sample.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530352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D34"/>
                </a:solidFill>
                <a:latin typeface="Aptos"/>
              </a:defRPr>
            </a:pPr>
            <a:r>
              <a:t>Distribution distance (total variation)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182880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Exact → Trotter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343400"/>
            <a:ext cx="4937760" cy="246888"/>
          </a:xfrm>
          <a:prstGeom prst="roundRect">
            <a:avLst>
              <a:gd name="adj" fmla="val 10000"/>
            </a:avLst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43200" y="4343400"/>
            <a:ext cx="2877232" cy="246888"/>
          </a:xfrm>
          <a:prstGeom prst="roundRect">
            <a:avLst>
              <a:gd name="adj" fmla="val 10000"/>
            </a:avLst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4343400"/>
            <a:ext cx="73152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07EEB"/>
                </a:solidFill>
                <a:latin typeface="Aptos"/>
              </a:defRPr>
            </a:pPr>
            <a:r>
              <a:t>0.5827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01768"/>
            <a:ext cx="182880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B2839"/>
                </a:solidFill>
                <a:latin typeface="Aptos"/>
              </a:defRPr>
            </a:pPr>
            <a:r>
              <a:t>Exact → noisy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5001768"/>
            <a:ext cx="4937760" cy="246888"/>
          </a:xfrm>
          <a:prstGeom prst="roundRect">
            <a:avLst>
              <a:gd name="adj" fmla="val 10000"/>
            </a:avLst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743200" y="5001768"/>
            <a:ext cx="4412382" cy="246888"/>
          </a:xfrm>
          <a:prstGeom prst="roundRect">
            <a:avLst>
              <a:gd name="adj" fmla="val 10000"/>
            </a:avLst>
          </a:prstGeom>
          <a:solidFill>
            <a:srgbClr val="C34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20" y="5001768"/>
            <a:ext cx="73152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34C53"/>
                </a:solidFill>
                <a:latin typeface="Aptos"/>
              </a:defRPr>
            </a:pPr>
            <a:r>
              <a:t>0.8936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4096512"/>
            <a:ext cx="2331720" cy="1417320"/>
          </a:xfrm>
          <a:prstGeom prst="roundRect">
            <a:avLst>
              <a:gd name="adj" fmla="val 10000"/>
            </a:avLst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98280" y="4297680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1CAD6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645152"/>
            <a:ext cx="1874519" cy="5943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Trotterization first;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backend-derived noise on top.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97880"/>
            <a:ext cx="10698480" cy="2011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B6C80"/>
                </a:solidFill>
                <a:latin typeface="Aptos"/>
              </a:defRPr>
            </a:pPr>
            <a:r>
              <a:t>FakeBrisbane is a backend-derived noise model, not a physical IBM device.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30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1CAD6"/>
                </a:solidFill>
                <a:latin typeface="Aptos"/>
              </a:defRPr>
            </a:pPr>
            <a:r>
              <a:t>07 /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698480" cy="5943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What the experiments actually establish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08760"/>
            <a:ext cx="10744200" cy="0"/>
          </a:xfrm>
          <a:prstGeom prst="line">
            <a:avLst/>
          </a:prstGeom>
          <a:ln w="12700">
            <a:solidFill>
              <a:srgbClr val="3652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1828800"/>
            <a:ext cx="530352" cy="310896"/>
          </a:xfrm>
          <a:prstGeom prst="roundRect">
            <a:avLst>
              <a:gd name="adj" fmla="val 10000"/>
            </a:avLst>
          </a:prstGeom>
          <a:solidFill>
            <a:srgbClr val="132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874519"/>
            <a:ext cx="530352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41CAD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28800"/>
            <a:ext cx="2880360" cy="31089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No advantage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6720840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CAD8E8"/>
                </a:solidFill>
                <a:latin typeface="Aptos"/>
              </a:defRPr>
            </a:pPr>
            <a:r>
              <a:t>Classical greedy, SA, and relaxation + rounding reach the exact n=12 optimum.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70048"/>
            <a:ext cx="530352" cy="310896"/>
          </a:xfrm>
          <a:prstGeom prst="roundRect">
            <a:avLst>
              <a:gd name="adj" fmla="val 10000"/>
            </a:avLst>
          </a:prstGeom>
          <a:solidFill>
            <a:srgbClr val="132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715768"/>
            <a:ext cx="530352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41CA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670048"/>
            <a:ext cx="2880360" cy="31089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Constraint preservation has a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70048"/>
            <a:ext cx="6720840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CAD8E8"/>
                </a:solidFill>
                <a:latin typeface="Aptos"/>
              </a:defRPr>
            </a:pPr>
            <a:r>
              <a:t>XY-QAOA guarantees exactly six selected assets, but the compiled circuit is extremely deep.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511296"/>
            <a:ext cx="530352" cy="310896"/>
          </a:xfrm>
          <a:prstGeom prst="roundRect">
            <a:avLst>
              <a:gd name="adj" fmla="val 10000"/>
            </a:avLst>
          </a:prstGeom>
          <a:solidFill>
            <a:srgbClr val="132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3557015"/>
            <a:ext cx="530352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41CA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511296"/>
            <a:ext cx="2880360" cy="31089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Warm start is the strongest sampler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511296"/>
            <a:ext cx="6720840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CAD8E8"/>
                </a:solidFill>
                <a:latin typeface="Aptos"/>
              </a:defRPr>
            </a:pPr>
            <a:r>
              <a:t>Method B reaches P(opt) ≈ 0.161 at p=3, yet does not beat the classical optimum.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352544"/>
            <a:ext cx="530352" cy="310896"/>
          </a:xfrm>
          <a:prstGeom prst="roundRect">
            <a:avLst>
              <a:gd name="adj" fmla="val 10000"/>
            </a:avLst>
          </a:prstGeom>
          <a:solidFill>
            <a:srgbClr val="132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398264"/>
            <a:ext cx="530352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41CA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52544"/>
            <a:ext cx="2880360" cy="31089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Separate the error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352544"/>
            <a:ext cx="6720840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CAD8E8"/>
                </a:solidFill>
                <a:latin typeface="Aptos"/>
              </a:defRPr>
            </a:pPr>
            <a:r>
              <a:t>The noiseless Trotter circuit has an implementation gap; backend-derived noise degrades it further.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394960"/>
            <a:ext cx="10561320" cy="658368"/>
          </a:xfrm>
          <a:prstGeom prst="roundRect">
            <a:avLst>
              <a:gd name="adj" fmla="val 10000"/>
            </a:avLst>
          </a:prstGeom>
          <a:solidFill>
            <a:srgbClr val="132C49"/>
          </a:solidFill>
          <a:ln>
            <a:solidFill>
              <a:srgbClr val="39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5577840"/>
            <a:ext cx="1005840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6AE48"/>
                </a:solidFill>
                <a:latin typeface="Aptos"/>
              </a:defRPr>
            </a:pPr>
            <a:r>
              <a:t>One synthetic instance  •  exact classical reference  •  simulator-only  •  no quantum-advantage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73952"/>
            <a:ext cx="9601200" cy="1828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A3BBD4"/>
                </a:solidFill>
                <a:latin typeface="Aptos"/>
              </a:defRPr>
            </a:pPr>
            <a:r>
              <a:t>TEAM AXIOM  •  ABHIRAM ARUN N S V  •  SREE SRUTHI ALUR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909</Words>
  <Application>Microsoft Office PowerPoint</Application>
  <PresentationFormat>Widescreen</PresentationFormat>
  <Paragraphs>187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BALA HARITHA NEKKANTI</dc:creator>
  <cp:keywords/>
  <dc:description>generated using python-pptx</dc:description>
  <cp:lastModifiedBy>BALA HARITHA NEKKANTI</cp:lastModifiedBy>
  <cp:revision>1</cp:revision>
  <dcterms:created xsi:type="dcterms:W3CDTF">2013-01-27T09:14:16Z</dcterms:created>
  <dcterms:modified xsi:type="dcterms:W3CDTF">2026-10-14T11:51:12Z</dcterms:modified>
  <cp:category/>
</cp:coreProperties>
</file>